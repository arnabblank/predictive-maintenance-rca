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Remaining Useful Life Prediction</a:t>
            </a:r>
            <a:br/>
            <a:r>
              <a:t>with Uncertainty-Aware AI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6EAF8"/>
                </a:solidFill>
                <a:latin typeface="Calibri"/>
              </a:defRPr>
            </a:pPr>
            <a:r>
              <a:t>Mid-Semester Progress Report — NASA C-MAPSS Turbofan Engine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BB"/>
                </a:solidFill>
                <a:latin typeface="Calibri"/>
              </a:defRPr>
            </a:pPr>
            <a:r>
              <a:t>Weeks 1–6 Results  •  EDA → Baselines → Deep Learning → Uncertainty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1.  Problem Statement &amp; Motivation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2.  Dataset: NASA C-MAPSS FD001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3.  Week 1: Exploratory Data Analysis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4.  Week 2: ML Baselines (Linear, RF, GBM)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5.  Week 3: Health Index Baseline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6.  Week 4: LSTM Deep Learning Model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7.  Week 5: Paper A — CNN+LSTM + SG Smoothing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8.  Week 6: Paper B — CNN-Transformer + MC Dropout UQ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9.  Results Comparison &amp; Key Insights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10. Agentic Copilot Demo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Why RUL Prediction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Unplanned engine failures → safety risk + costly downtime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Condition-based maintenance requires accurate RUL prediction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Challenge: models must know WHEN they DON'T know (uncertainty)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Goal: build a system that predicts, explains, and knows its limits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Our Approach: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Predict RUL → Quantify Uncertainty → Explain → Recommend → Abstain if unsure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NASA C-MAPSS FD001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C-MAPSS FD001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Simulated turbofan engine run-to-failure data (NASA)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100 training engines + 100 test engines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1 operating condition, 1 fault mode (HPC degradation)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21 sensor channels + 3 operational settings per cycle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Engine lifetimes: 128–362 cycles (avg 206)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Test RUL range: 7–145 (mean 76)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RUL capping: min(raw_rul, 125) — piecewise linear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Exploratory Data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Engine Lifetime Distribution</a:t>
            </a:r>
          </a:p>
        </p:txBody>
      </p:sp>
      <p:pic>
        <p:nvPicPr>
          <p:cNvPr id="4" name="Picture 3" descr="engine_life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3364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RUL Label Distribution &amp; Piecewise-Linear Target</a:t>
            </a:r>
          </a:p>
        </p:txBody>
      </p:sp>
      <p:pic>
        <p:nvPicPr>
          <p:cNvPr id="4" name="Picture 3" descr="rul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058400" cy="2736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Sensor Variance Analysis — Identifying Informative Sensors</a:t>
            </a:r>
          </a:p>
        </p:txBody>
      </p:sp>
      <p:pic>
        <p:nvPicPr>
          <p:cNvPr id="4" name="Picture 3" descr="sensor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44000" cy="37612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Sensor Degradation Trends Over Engine Lifetime</a:t>
            </a:r>
          </a:p>
        </p:txBody>
      </p:sp>
      <p:pic>
        <p:nvPicPr>
          <p:cNvPr id="4" name="Picture 3" descr="sensor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Sensor-RUL Correlation Heatmap</a:t>
            </a:r>
          </a:p>
        </p:txBody>
      </p:sp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Week 1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7 sensors have near-zero variance → dropped (sensor_1, 5, 6, 10, 16, 18, 19)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14 informative sensors retained for modeling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Top correlated sensors with RUL: sensor_11, sensor_4, sensor_12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(|r| = 0.775, 0.757, 0.749)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Clear degradation trends visible in sensors over engine lifetime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Decision: Window size=30, MinMax scaling, RUL cap=125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ML Baselines with Feature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Baseline Model Results (FD001 Test)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 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18.06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Features: rolling stats (mean, std, slope, min, max) + EWM + rate-of-change</a:t>
            </a:r>
            <a:br/>
            <a:r>
              <a:t>over last 30 cycles of each engine. Train/val split by engine unit.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Baseline Predictions — Scatter Plots</a:t>
            </a:r>
          </a:p>
        </p:txBody>
      </p:sp>
      <p:pic>
        <p:nvPicPr>
          <p:cNvPr id="4" name="Picture 3" descr="baselin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70070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Random Forest Feature Importance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Health Index Baseline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PCA Health Index — Per Engine &amp; Relationship to RUL</a:t>
            </a:r>
          </a:p>
        </p:txBody>
      </p:sp>
      <p:pic>
        <p:nvPicPr>
          <p:cNvPr id="4" name="Picture 3" descr="health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058400" cy="30812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Health Index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PCA explained variance: 69.6%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HI Baseline — MAE: 85.55, RMSE: 95.07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HI is a physics-inspired approach vs data-driven ML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Takeaway: Single PCA component captures ~70% of variance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but does not outperform ML baselines (single-point prediction from last cycle)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ML baselines with window features provide much better RUL estimates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LSTM Deep Learning Model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LSTM Training Curves</a:t>
            </a:r>
          </a:p>
        </p:txBody>
      </p:sp>
      <p:pic>
        <p:nvPicPr>
          <p:cNvPr id="4" name="Picture 3" descr="lstm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33694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LSTM Predictions — Test Set</a:t>
            </a:r>
          </a:p>
        </p:txBody>
      </p:sp>
      <p:pic>
        <p:nvPicPr>
          <p:cNvPr id="4" name="Picture 3" descr="lstm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47789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LSTM Results &amp; Agent Skeleton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LSTM (2 layers, hidden=64, dropout=0.3)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Parameters: 57,985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Test MAE: 10.97, RMSE: 14.90, NASA: 395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Input: sliding windows of 30 cycles × 14 sensors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Also built Copilot agent skeleton: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Tools: predict_rul, explain_prediction, retrieve_knowledge, recommend_action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Orchestrator: rule-based pipeline (predict → explain → retrieve → recommend)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Paper A: CNN+LSTM + Savitzky-Golay Smoothing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Savitzky-Golay Smoothing Effect on Sensor Signals</a:t>
            </a:r>
          </a:p>
        </p:txBody>
      </p:sp>
      <p:pic>
        <p:nvPicPr>
          <p:cNvPr id="4" name="Picture 3" descr="sg_smoothing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058400" cy="456075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Paper A — 2×2 Experiment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 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LSTM_raw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LSTM_sg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CNN_LSTM_raw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CNN_LSTM_sg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2×2 experiment: {LSTM, CNN+LSTM} × {raw, SG-smoothed}</a:t>
            </a:r>
            <a:br/>
            <a:r>
              <a:t>All models trained for 50 epochs with early stopping (patience=10)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Paper A — MAE Comparison</a:t>
            </a:r>
          </a:p>
        </p:txBody>
      </p:sp>
      <p:pic>
        <p:nvPicPr>
          <p:cNvPr id="4" name="Picture 3" descr="paper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8229600" cy="48944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Paper B: CNN-Transformer + MC Dropout UQ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CNN-Transformer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1D-CNN feature extractor (2 conv layers → BatchNorm → ReLU)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Positional Encoding (sinusoidal)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Transformer Encoder (2 layers, 4 heads, d_model=64)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Global Average Pooling → FC regression head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MC Dropout (rate=0.1) kept active at inference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84,417 trainable parameters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Test MAE: 10.87, RMSE: 15.18, NASA: 357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CNN-Transformer Training Curves</a:t>
            </a:r>
          </a:p>
        </p:txBody>
      </p:sp>
      <p:pic>
        <p:nvPicPr>
          <p:cNvPr id="4" name="Picture 3" descr="ct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601200" cy="33694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Predictions with 95% Confidence Intervals</a:t>
            </a:r>
          </a:p>
        </p:txBody>
      </p:sp>
      <p:pic>
        <p:nvPicPr>
          <p:cNvPr id="4" name="Picture 3" descr="ct_predictions_with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058400" cy="371861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Uncertainty Analysis — Sanity Checks</a:t>
            </a:r>
          </a:p>
        </p:txBody>
      </p:sp>
      <p:pic>
        <p:nvPicPr>
          <p:cNvPr id="4" name="Picture 3" descr="uncertain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058400" cy="27367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MC Dropout Prediction Distributions (Sample Engines)</a:t>
            </a:r>
          </a:p>
        </p:txBody>
      </p:sp>
      <p:pic>
        <p:nvPicPr>
          <p:cNvPr id="4" name="Picture 3" descr="mc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058400" cy="455905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Uncertainty Quantification —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MC Dropout with N=100 stochastic forward passes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Uncertainty-Error Correlation: 0.397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→ Positive correlation = model is more uncertain when it makes bigger errors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Mean uncertainty (std): 8.52 cycles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• Uncertainty enables: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- Abstention: refuse prediction when uncertainty too high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- Confidence intervals: communicate reliability to operators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- Risk stratification: prioritize engines by uncertainty level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All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Model Comparison — FD001 Test Set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Model Comparison — FD001 Test 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 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318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18.06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395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LSTM (raw)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CNN-Transformer (MC)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Lower MAE/RMSE/NASA Score = Better. NASA Score penalizes late predictions more heavily.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Model Comparison — Bar Charts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0058400" cy="29807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CNN-Transformer?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Gradient Boosting Has Better Numbers — So Why Not Use It?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Honest Comparison: Gradient Boosting vs CNN-Transformer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CNN-Transformer (MC)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10.87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GB (Δ=0.49)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GB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NASA Score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Uncertainty (std)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✗ 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8.52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CT ✓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Confidence Intervals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✗ Not available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95% CI per prediction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CT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Abstention / 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✗ Not 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Knows when unsure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CT ✓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Temporal Patterns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Summarized (flat)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Reads raw sequences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CT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Explainability (Grad)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✗ Feature importance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✓ Per-timestep saliency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CT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GB MAE=10.38 vs CT MAE=10.87 (Δ=0.49). GB NASA=307 vs CT NASA=357. CT provides uncertainty, explainability, and abstention that GB cannot.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Why Not Gradient Boosting? — The Safety 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Gradient Boosting gives ONE number: 'RUL = 50 cycles.' That's it.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A maintenance engineer must ask: How confident is the model? → No answer.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CNN-Transformer (MC Dropout) gives: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• RUL = 50 cycles ± 5 cycles (95% CI: [40, 60]) — I'm confident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• RUL = 50 cycles ± 30 cycles (95% CI: [0, 110]) — DON'T TRUST ME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In aviation, a wrong confident prediction is catastrophic.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It's BETTER to say 'I don't know' than to say '50 cycles' and be wrong.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The CNN-Transformer is the only model that can do this.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Uncertainty-error correlation: 0.397 — the model IS more uncertain when wrong.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How We Will Improve CNN-Transformer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The CNN-Transformer's MAE (10.87) is close to GB (10.38).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Planned improvements to beat GB on raw accuracy too: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10 — Abstention: Skip high-uncertainty predictions →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remaining predictions become MORE accurate (lower MAE on confident subset)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11 — Ablation &amp; Tuning: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• Window size optimization (10/20/30/40/50)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• Attention heads (2/4/8) and model depth tuning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• Learning rate scheduling refinement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• Ensemble: average predictions from multiple MC Dropout runs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Additional ideas: Feature scaling normalization, longer training,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curriculum learning (easy → hard samples), loss function tuning (Huber loss)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Copilot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How the Ops Copilot Works — Current &amp; Future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Current Copilot: Rule-Based Pipeline (No LLM)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27432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PREDICT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468880"/>
            <a:ext cx="2743200" cy="4572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predict_rul()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017520"/>
            <a:ext cx="274320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CNN-Transformer</a:t>
            </a:r>
            <a:br/>
            <a:r>
              <a:t>+ MC Dropout</a:t>
            </a:r>
            <a:br/>
            <a:r>
              <a:t>→ RUL mean, std,</a:t>
            </a:r>
            <a:br/>
            <a:r>
              <a:t>   95% CI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463040"/>
            <a:ext cx="27432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EXPLAIN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468880"/>
            <a:ext cx="2743200" cy="4572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explain_prediction()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3017520"/>
            <a:ext cx="274320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31089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Integrated Gradients</a:t>
            </a:r>
            <a:br/>
            <a:r>
              <a:t>→ Top sensors</a:t>
            </a:r>
            <a:br/>
            <a:r>
              <a:t>   ranked by</a:t>
            </a:r>
            <a:br/>
            <a:r>
              <a:t>   attribution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463040"/>
            <a:ext cx="27432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RETRIEVE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468880"/>
            <a:ext cx="2743200" cy="4572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retrieve_knowledge()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3017520"/>
            <a:ext cx="274320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1089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BM25 search over</a:t>
            </a:r>
            <a:br/>
            <a:r>
              <a:t>kb/fault_tree.md</a:t>
            </a:r>
            <a:br/>
            <a:r>
              <a:t>&amp; glossary.md</a:t>
            </a:r>
            <a:br/>
            <a:r>
              <a:t>→ KB snippets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1463040"/>
            <a:ext cx="27432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4. RECOMMEND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2468880"/>
            <a:ext cx="2743200" cy="4572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recommend_action()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3017520"/>
            <a:ext cx="2743200" cy="20116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310896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Rule-based logic:</a:t>
            </a:r>
            <a:br/>
            <a:r>
              <a:t>IF uncertainty &gt; 20</a:t>
            </a:r>
            <a:br/>
            <a:r>
              <a:t>  → ESCALATE</a:t>
            </a:r>
            <a:br/>
            <a:r>
              <a:t>ELSE → recommend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Current status: 100% rule-based Python. No LLM, no API calls.</a:t>
            </a:r>
            <a:br/>
            <a:r>
              <a:t>The orchestrator is a Python class (OpsCopilot) that calls 4 functions in fixed order with if/else logic.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Safety Guardrails — Built Into Every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Before any recommendation is shown, the Copilot verifies 3 safety checks: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✓ Uncertainty Reported — Never give advice without showing confidence level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 If uncertainty is not available → flag as incomplete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✓ Knowledge Base Cited — Recommendations must be grounded in the KB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 If no relevant KB entry found → note 'No KB reference available'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✓ No False Reassurance — If uncertainty is high, never say 'all clear'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 High uncertainty + 'recommend' + 'high confidence' → BLOCKED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Abstention Decision: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Uncertainty (std) &gt; 20 cycles → ESCALATE to human expert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Uncertainty level = 'high' or 'very_high' → ESCALATE to human expert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From Rule-Based → LLM-Powered Copilot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Evolution of the Copilot — Week by Week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Changes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 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 skeleton: 4 tools defined, fixed pipeline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Rule-based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Explainability tools added (saliency, IG, SHAP)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Rule-based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Knowledge base + BM25 retrieval integrated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Rule-based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pipeline wired: single-engine + fleet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Rule-based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Novelty detection + abstention logic formalized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Rule-based + OOD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Streamlit demo app with interactive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Rule-based (UI)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Stretch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orchestrator: OpenAI function calling via LangChain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LLM-backed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Core tools stay the same. Only the orchestrator changes (if/else → LLM tool calling).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Final Product Vision — The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Interactive Streamlit app with 3 pages: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1. Single Engine Analysis: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 Select engine → Run 4-step Copilot → See prediction, uncertainty,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 sensor attribution chart, KB reference, and recommendation / escalation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2. Fleet Dashboard: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 Analyze all 100 engines → Heatmap of risk levels → Sorted by urgency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 Summary: X critical, Y warning, Z normal, W escalated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3. Ablation &amp; Comparison: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 Compare all models side-by-side, toggle UQ on/off, vary MC samples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The tools (predict, explain, retrieve, recommend) will stay rule-based.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LLM integration is a stretch goal — the value is in uncertainty + explanations.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3108960"/>
            <a:ext cx="4846320" cy="36576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Agentic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Predict → Explain → Retrieve → Recommend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Ops Copilot —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Step 1: Predict RUL + uncertainty (MC Dropout, CNN-Transformer)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Step 2: Explain prediction (gradient saliency / integrated gradients)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Step 3: Retrieve knowledge base (BM25 over curated fault tree)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Step 4: Generate recommendation with KB citation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Safety Guardrails: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• ABSTAIN when uncertainty &gt; threshold → escalate to human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• Verify uncertainty is reported, KB is cited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  • No false reassurance when uncertainty is high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Mid-Semester Summary &amp;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✓ Comprehensive EDA on C-MAPSS FD001 — 14 informative sensors identified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✓ ML baselines: Gradient Boosting best at MAE=10.38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✓ LSTM sequence model: MAE=10.97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✓ CNN-Transformer with MC Dropout: MAE=10.87 with uncertainty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✓ Uncertainty-error correlation: 0.397 (model knows when unsure)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✓ Copilot agent skeleton built: predict → explain → retrieve → recommend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Remaining Work (Weeks 7–12)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7:  Explainability — saliency maps, integrated gradients, SHAP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8:  Knowledge Base RAG — BM25 + sentence-transformer retrieval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9:  Agentic Copilot — LLM integration with tool calling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10: Novelty detection &amp; abstention policy tuning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11: Ablation studies &amp; Streamlit dashboard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  <a:latin typeface="Calibri"/>
              </a:defRPr>
            </a:pPr>
            <a:r>
              <a:t>Week 12: Final report &amp; presentation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6EAF8"/>
                </a:solidFill>
                <a:latin typeface="Calibri"/>
              </a:defRPr>
            </a:pPr>
            <a:r>
              <a:t>Questions &amp;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