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Remaining Useful Life Prediction</a:t>
            </a:r>
            <a:br/>
            <a:r>
              <a:t>with Uncertainty-Aware AI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EAF8"/>
                </a:solidFill>
                <a:latin typeface="Calibri"/>
              </a:defRPr>
            </a:pPr>
            <a:r>
              <a:t>Mid-Semester Progress Report — NASA C-MAPSS Turbofan Engine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BB"/>
                </a:solidFill>
                <a:latin typeface="Calibri"/>
              </a:defRPr>
            </a:pPr>
            <a:r>
              <a:t>Weeks 1–6 Results  •  EDA → Baselines → Deep Learning → Uncertainty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1.  Problem Statement &amp; Motivation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2.  Dataset: NASA C-MAPSS FD001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3.  Week 1: Exploratory Data Analysis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4.  Weeks 2 &amp; 3: ML Baselines &amp; Health Index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5.  Week 4: LSTM Deep Learning Model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6.  Week 5: Paper A — CNN+LSTM + SG Smoothing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7.  Week 6: Paper B — CNN-Transformer + MC Dropout UQ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8.  The Cost of Confidence (Results Comparison)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9.  Live Demo: Agentic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Why RUL Prediction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Unplanned engine failures → safety risk + costly downtime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Condition-based maintenance requires accurate RUL prediction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Challenge: models must know WHEN they DON'T know (uncertainty)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Goal: build a system that predicts, explains, and knows its limits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Our Approach: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Predict RUL → Quantify Uncertainty → Explain → Recommend → Abstain if unsure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NASA C-MAPSS FD001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C-MAPSS FD001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Simulated turbofan engine run-to-failure data (NASA)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100 training engines + 100 test engines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1 operating condition, 1 fault mode (HPC degradation)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21 sensor channels + 3 operational settings per cycle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Engine lifetimes: 128–362 cycles (avg 206)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Test RUL range: 7–145 (mean 76)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RUL capping: min(raw_rul, 125) — piecewise linear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Exploratory Data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Engine Lifetime Distribution</a:t>
            </a:r>
          </a:p>
        </p:txBody>
      </p:sp>
      <p:pic>
        <p:nvPicPr>
          <p:cNvPr id="4" name="Picture 3" descr="engine_life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3364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Sensor Degradation Trends Over Engine Lifetime</a:t>
            </a:r>
          </a:p>
        </p:txBody>
      </p:sp>
      <p:pic>
        <p:nvPicPr>
          <p:cNvPr id="4" name="Picture 3" descr="sensor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Week 1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7 sensors have near-zero variance → dropped (sensor_1, 5, 6, 10, 16, 18, 19)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14 informative sensors retained for modeling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Top correlated sensors with RUL: sensor_11, sensor_4, sensor_12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(|r| = 0.775, 0.757, 0.749)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Clear degradation trends visible in sensors over engine lifetime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Decision: Window size=30, MinMax scaling, RUL cap=125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Weeks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Baselines &amp; Health Index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Baseline Model Results (FD001 Test)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Features: rolling stats (mean, std, slope, min, max) + EWM + rate-of-change</a:t>
            </a:r>
            <a:br/>
            <a:r>
              <a:t>over last 30 cycles of each engine. Train/val split by engine unit.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Weeks 2 &amp; 3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ML baselines (Linear, RF, GBM) trained on 30-cycle rolling windows.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Gradient Boosting achieved best baseline performance (MAE: 10.38).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Explored PCA-based Health Index (physics-inspired) as an alternative.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Single PCA component captured ~70% of variance but heavily underperformed ML baselines.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Takeaway: Moving forward strictly with data-driven models (Deep Learning) over raw PCA indices.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LSTM Deep Learning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LSTM Training Curves</a:t>
            </a:r>
          </a:p>
        </p:txBody>
      </p:sp>
      <p:pic>
        <p:nvPicPr>
          <p:cNvPr id="4" name="Picture 3" descr="lstm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33694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LSTM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LSTM (2 layers, hidden=64, dropout=0.3)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Parameters: 57,985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Test MAE: 10.97, RMSE: 14.90, NASA: 395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Input: sliding windows of 30 cycles × 14 sensors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Paper A: CNN+LSTM + Savitzky-Golay Smoothing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Paper A — 2×2 Experiment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LSTM_raw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LSTM_sg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CNN_LSTM_raw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CNN_LSTM_sg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2×2 experiment: {LSTM, CNN+LSTM} × {raw, SG-smoothed}</a:t>
            </a:r>
            <a:br/>
            <a:r>
              <a:t>All models trained for 50 epochs with early stopping (patience=10)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Paper B: CNN-Transformer + MC Dropout UQ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CNN-Transformer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1D-CNN feature extractor (2 conv layers → BatchNorm → ReLU)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Positional Encoding (sinusoidal)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Transformer Encoder (2 layers, 4 heads, d_model=64)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Global Average Pooling → FC regression head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MC Dropout (rate=0.1) kept active at inference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84,417 trainable parameters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Test MAE: 10.87, RMSE: 15.18, NASA: 357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Predictions with 95% Confidence Intervals</a:t>
            </a:r>
          </a:p>
        </p:txBody>
      </p:sp>
      <p:pic>
        <p:nvPicPr>
          <p:cNvPr id="4" name="Picture 3" descr="ct_predictions_with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058400" cy="37186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MC Dropout Prediction Distributions (Sample Engines)</a:t>
            </a:r>
          </a:p>
        </p:txBody>
      </p:sp>
      <p:pic>
        <p:nvPicPr>
          <p:cNvPr id="4" name="Picture 3" descr="mc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100584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5852160"/>
            <a:ext cx="4114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32F2F"/>
                </a:solidFill>
                <a:latin typeface="Calibri"/>
              </a:defRPr>
            </a:pPr>
            <a:r>
              <a:t>Engine 1 (σ=11.2)</a:t>
            </a:r>
            <a:br/>
            <a:r>
              <a:t>High Uncertainty → Trigger Copilot Escalation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5852160"/>
            <a:ext cx="4114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59436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E3C"/>
                </a:solidFill>
                <a:latin typeface="Calibri"/>
              </a:defRPr>
            </a:pPr>
            <a:r>
              <a:t>Engine 61 (σ=4.6)</a:t>
            </a:r>
            <a:br/>
            <a:r>
              <a:t>High Confidence → Safe to Recommend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Uncertainty Quantification —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MC Dropout with N=100 stochastic forward passes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Uncertainty-Error Correlation: 0.397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→ Positive correlation = model is more uncertain when it makes bigger errors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Mean uncertainty (std): 8.52 cycles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Uncertainty enables: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- Abstention: refuse prediction when uncertainty too high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- Confidence intervals: communicate reliability to operators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- Risk stratification: prioritize engines by uncertainty level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Cost of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Trading 0.73 MAE for Aviation Safety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Safety Argument: GB vs. CNN-Transformer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We traded 0.73 cycles of MAE for the ability to prevent catastrophic, confident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411480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468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01752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MAE: 10.38</a:t>
            </a:r>
            <a:br/>
            <a:r>
              <a:t>• Yields ONE absolute number.</a:t>
            </a:r>
            <a:br/>
            <a:r>
              <a:t>• e.g., 'RUL = 50 cycles'</a:t>
            </a:r>
            <a:br/>
            <a:br/>
            <a:r>
              <a:t>• Flaw: No indication of model confidence.</a:t>
            </a:r>
            <a:br/>
            <a:r>
              <a:t>• Risk: A confident wrong prediction is catastrophic in aviation.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86000"/>
            <a:ext cx="4114800" cy="3200400"/>
          </a:xfrm>
          <a:prstGeom prst="rect">
            <a:avLst/>
          </a:prstGeom>
          <a:solidFill>
            <a:srgbClr val="D6EAF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CNN-Transformer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MAE: 10.87</a:t>
            </a:r>
            <a:br/>
            <a:r>
              <a:t>• Yields RUL + 95% Confidence Interval.</a:t>
            </a:r>
            <a:br/>
            <a:r>
              <a:t>• e.g., 'RUL = 50 ± 5 cycles' (Safe)</a:t>
            </a:r>
            <a:br/>
            <a:r>
              <a:t>• e.g., 'RUL = 50 ± 30 cycles' (Abstain)</a:t>
            </a:r>
            <a:br/>
            <a:br/>
            <a:r>
              <a:t>• Benefit: It is BETTER to say 'I don't know' than to be confidently wrong.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Uncertainty in Action — Streamlit Dashboard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Current Copilot: Rule-Based Pipeline (No LLM)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PREDICT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468880"/>
            <a:ext cx="27432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predict_rul()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017520"/>
            <a:ext cx="2743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CNN-Transformer</a:t>
            </a:r>
            <a:br/>
            <a:r>
              <a:t>+ MC Dropout</a:t>
            </a:r>
            <a:br/>
            <a:r>
              <a:t>→ RUL mean, std,</a:t>
            </a:r>
            <a:br/>
            <a:r>
              <a:t>   95% 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46304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EXPLAIN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468880"/>
            <a:ext cx="27432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explain_prediction()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3017520"/>
            <a:ext cx="2743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31089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Integrated Gradients</a:t>
            </a:r>
            <a:br/>
            <a:r>
              <a:t>→ Top sensors</a:t>
            </a:r>
            <a:br/>
            <a:r>
              <a:t>   ranked by</a:t>
            </a:r>
            <a:br/>
            <a:r>
              <a:t>   attribution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46304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RETRIEVE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468880"/>
            <a:ext cx="27432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retrieve_knowledge()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017520"/>
            <a:ext cx="2743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1089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BM25 search over</a:t>
            </a:r>
            <a:br/>
            <a:r>
              <a:t>kb/fault_tree.md</a:t>
            </a:r>
            <a:br/>
            <a:r>
              <a:t>&amp; glossary.md</a:t>
            </a:r>
            <a:br/>
            <a:r>
              <a:t>→ KB snippets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46304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4. RECOMMEND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2468880"/>
            <a:ext cx="27432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recommend_action()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3017520"/>
            <a:ext cx="2743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31089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Rule-based logic:</a:t>
            </a:r>
            <a:br/>
            <a:r>
              <a:t>IF uncertainty &gt; 20</a:t>
            </a:r>
            <a:br/>
            <a:r>
              <a:t>  → ESCALATE</a:t>
            </a:r>
            <a:br/>
            <a:r>
              <a:t>ELSE → 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Current status: 100% rule-based Python. No LLM, no API calls.</a:t>
            </a:r>
            <a:br/>
            <a:r>
              <a:t>The orchestrator is a Python class (OpsCopilot) that calls 4 functions in fixed order with if/else logic.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Remaining Work (Weeks 7–12)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7:  Explainability — saliency maps, integrated gradients, SHAP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8:  Knowledge Base RAG — BM25 + sentence-transformer retrieval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9:  Agentic Copilot — LLM integration with tool calling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10: Novelty detection &amp; abstention policy tuning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11: Ablation studies &amp; Streamlit dashboard finalization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12: Final report &amp; presentation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6EAF8"/>
                </a:solidFill>
                <a:latin typeface="Calibri"/>
              </a:defRPr>
            </a:pPr>
            <a:r>
              <a:t>Questions &amp; Interactive Dashboard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